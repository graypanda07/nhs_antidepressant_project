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 Italics" charset="1" panose="00000800000000000000"/>
      <p:regular r:id="rId17"/>
    </p:embeddedFont>
    <p:embeddedFont>
      <p:font typeface="Poppins Italics" charset="1" panose="00000500000000000000"/>
      <p:regular r:id="rId18"/>
    </p:embeddedFont>
    <p:embeddedFont>
      <p:font typeface="Poppins Light" charset="1" panose="00000400000000000000"/>
      <p:regular r:id="rId19"/>
    </p:embeddedFont>
    <p:embeddedFont>
      <p:font typeface="Poppins" charset="1" panose="00000500000000000000"/>
      <p:regular r:id="rId20"/>
    </p:embeddedFont>
    <p:embeddedFont>
      <p:font typeface="Poppins Bold" charset="1" panose="00000800000000000000"/>
      <p:regular r:id="rId21"/>
    </p:embeddedFont>
    <p:embeddedFont>
      <p:font typeface="Telegraf Bold" charset="1" panose="00000800000000000000"/>
      <p:regular r:id="rId22"/>
    </p:embeddedFont>
    <p:embeddedFont>
      <p:font typeface="Open Sans" charset="1" panose="00000000000000000000"/>
      <p:regular r:id="rId23"/>
    </p:embeddedFont>
    <p:embeddedFont>
      <p:font typeface="Open Sans Bold" charset="1" panose="00000000000000000000"/>
      <p:regular r:id="rId24"/>
    </p:embeddedFont>
    <p:embeddedFont>
      <p:font typeface="Poppins Medium" charset="1" panose="000006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12759"/>
            <a:ext cx="1349361" cy="1051251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0" y="-57496"/>
            <a:ext cx="1349361" cy="2113636"/>
          </a:xfrm>
          <a:prstGeom prst="rect">
            <a:avLst/>
          </a:prstGeom>
          <a:solidFill>
            <a:srgbClr val="1C98ED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16642727" y="889732"/>
            <a:ext cx="616573" cy="437192"/>
            <a:chOff x="0" y="0"/>
            <a:chExt cx="822097" cy="582923"/>
          </a:xfrm>
        </p:grpSpPr>
        <p:sp>
          <p:nvSpPr>
            <p:cNvPr name="AutoShape 5" id="5"/>
            <p:cNvSpPr/>
            <p:nvPr/>
          </p:nvSpPr>
          <p:spPr>
            <a:xfrm rot="0">
              <a:off x="0" y="0"/>
              <a:ext cx="822097" cy="74923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AutoShape 6" id="6"/>
            <p:cNvSpPr/>
            <p:nvPr/>
          </p:nvSpPr>
          <p:spPr>
            <a:xfrm rot="0">
              <a:off x="0" y="254000"/>
              <a:ext cx="822097" cy="74923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AutoShape 7" id="7"/>
            <p:cNvSpPr/>
            <p:nvPr/>
          </p:nvSpPr>
          <p:spPr>
            <a:xfrm rot="0">
              <a:off x="0" y="508000"/>
              <a:ext cx="822097" cy="74923"/>
            </a:xfrm>
            <a:prstGeom prst="rect">
              <a:avLst/>
            </a:pr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540747" y="4293583"/>
            <a:ext cx="11566238" cy="520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7"/>
              </a:lnSpc>
            </a:pPr>
            <a:r>
              <a:rPr lang="en-US" b="true" sz="8101" i="true" spc="-137">
                <a:solidFill>
                  <a:srgbClr val="1C98ED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Antid</a:t>
            </a:r>
            <a:r>
              <a:rPr lang="en-US" b="true" sz="8101" i="true" spc="-137">
                <a:solidFill>
                  <a:srgbClr val="1C98ED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epressant Prescribing Analysis in England</a:t>
            </a:r>
          </a:p>
          <a:p>
            <a:pPr algn="ctr">
              <a:lnSpc>
                <a:spcPts val="4239"/>
              </a:lnSpc>
            </a:pPr>
          </a:p>
          <a:p>
            <a:pPr algn="ctr">
              <a:lnSpc>
                <a:spcPts val="5302"/>
              </a:lnSpc>
            </a:pPr>
            <a:r>
              <a:rPr lang="en-US" sz="5001" i="true" spc="-85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Using Python to Analyse NHS Prescribing Data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-10063839">
            <a:off x="-863356" y="3678846"/>
            <a:ext cx="3377537" cy="1688769"/>
          </a:xfrm>
          <a:custGeom>
            <a:avLst/>
            <a:gdLst/>
            <a:ahLst/>
            <a:cxnLst/>
            <a:rect r="r" b="b" t="t" l="l"/>
            <a:pathLst>
              <a:path h="1688769" w="3377537">
                <a:moveTo>
                  <a:pt x="3377537" y="0"/>
                </a:moveTo>
                <a:lnTo>
                  <a:pt x="0" y="0"/>
                </a:lnTo>
                <a:lnTo>
                  <a:pt x="0" y="1688769"/>
                </a:lnTo>
                <a:lnTo>
                  <a:pt x="3377537" y="1688769"/>
                </a:lnTo>
                <a:lnTo>
                  <a:pt x="337753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821124" y="286579"/>
            <a:ext cx="3191306" cy="1225356"/>
            <a:chOff x="0" y="0"/>
            <a:chExt cx="4255074" cy="16338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75996" cy="1633808"/>
            </a:xfrm>
            <a:custGeom>
              <a:avLst/>
              <a:gdLst/>
              <a:ahLst/>
              <a:cxnLst/>
              <a:rect r="r" b="b" t="t" l="l"/>
              <a:pathLst>
                <a:path h="1633808" w="1575996">
                  <a:moveTo>
                    <a:pt x="0" y="0"/>
                  </a:moveTo>
                  <a:lnTo>
                    <a:pt x="1575996" y="0"/>
                  </a:lnTo>
                  <a:lnTo>
                    <a:pt x="1575996" y="1633808"/>
                  </a:lnTo>
                  <a:lnTo>
                    <a:pt x="0" y="1633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65816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68189" y="1354827"/>
              <a:ext cx="2679079" cy="278981"/>
            </a:xfrm>
            <a:custGeom>
              <a:avLst/>
              <a:gdLst/>
              <a:ahLst/>
              <a:cxnLst/>
              <a:rect r="r" b="b" t="t" l="l"/>
              <a:pathLst>
                <a:path h="278981" w="2679079">
                  <a:moveTo>
                    <a:pt x="0" y="0"/>
                  </a:moveTo>
                  <a:lnTo>
                    <a:pt x="2679079" y="0"/>
                  </a:lnTo>
                  <a:lnTo>
                    <a:pt x="2679079" y="278981"/>
                  </a:lnTo>
                  <a:lnTo>
                    <a:pt x="0" y="278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6369" t="-454670" r="0" b="-30964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75996" y="62450"/>
              <a:ext cx="2679079" cy="1292378"/>
            </a:xfrm>
            <a:custGeom>
              <a:avLst/>
              <a:gdLst/>
              <a:ahLst/>
              <a:cxnLst/>
              <a:rect r="r" b="b" t="t" l="l"/>
              <a:pathLst>
                <a:path h="1292378" w="2679079">
                  <a:moveTo>
                    <a:pt x="0" y="0"/>
                  </a:moveTo>
                  <a:lnTo>
                    <a:pt x="2679078" y="0"/>
                  </a:lnTo>
                  <a:lnTo>
                    <a:pt x="2679078" y="1292377"/>
                  </a:lnTo>
                  <a:lnTo>
                    <a:pt x="0" y="1292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6369" t="0" r="0" b="-2641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8680" y="286579"/>
            <a:ext cx="1554693" cy="1225356"/>
            <a:chOff x="0" y="0"/>
            <a:chExt cx="1031255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1255" cy="812800"/>
            </a:xfrm>
            <a:custGeom>
              <a:avLst/>
              <a:gdLst/>
              <a:ahLst/>
              <a:cxnLst/>
              <a:rect r="r" b="b" t="t" l="l"/>
              <a:pathLst>
                <a:path h="812800" w="1031255">
                  <a:moveTo>
                    <a:pt x="114533" y="0"/>
                  </a:moveTo>
                  <a:lnTo>
                    <a:pt x="916721" y="0"/>
                  </a:lnTo>
                  <a:cubicBezTo>
                    <a:pt x="979976" y="0"/>
                    <a:pt x="1031255" y="51278"/>
                    <a:pt x="1031255" y="114533"/>
                  </a:cubicBezTo>
                  <a:lnTo>
                    <a:pt x="1031255" y="698267"/>
                  </a:lnTo>
                  <a:cubicBezTo>
                    <a:pt x="1031255" y="761522"/>
                    <a:pt x="979976" y="812800"/>
                    <a:pt x="916721" y="812800"/>
                  </a:cubicBezTo>
                  <a:lnTo>
                    <a:pt x="114533" y="812800"/>
                  </a:lnTo>
                  <a:cubicBezTo>
                    <a:pt x="51278" y="812800"/>
                    <a:pt x="0" y="761522"/>
                    <a:pt x="0" y="698267"/>
                  </a:cubicBezTo>
                  <a:lnTo>
                    <a:pt x="0" y="114533"/>
                  </a:lnTo>
                  <a:cubicBezTo>
                    <a:pt x="0" y="51278"/>
                    <a:pt x="51278" y="0"/>
                    <a:pt x="114533" y="0"/>
                  </a:cubicBezTo>
                  <a:close/>
                </a:path>
              </a:pathLst>
            </a:custGeom>
            <a:blipFill>
              <a:blip r:embed="rId6"/>
              <a:stretch>
                <a:fillRect l="-20059" t="0" r="-20059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-5400000">
            <a:off x="12183902" y="4695650"/>
            <a:ext cx="7937185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 spc="37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PRESENTED BY: </a:t>
            </a:r>
          </a:p>
          <a:p>
            <a:pPr algn="l">
              <a:lnSpc>
                <a:spcPts val="3510"/>
              </a:lnSpc>
            </a:pPr>
            <a:r>
              <a:rPr lang="en-US" sz="2700" spc="37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ALEXANDRIA NOIKOVITCH</a:t>
            </a:r>
          </a:p>
          <a:p>
            <a:pPr algn="l">
              <a:lnSpc>
                <a:spcPts val="3510"/>
              </a:lnSpc>
            </a:pPr>
            <a:r>
              <a:rPr lang="en-US" sz="2700" spc="37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UNIVERSITY OF PORTSMOUTH GRADUATE (2024)</a:t>
            </a:r>
          </a:p>
          <a:p>
            <a:pPr algn="l">
              <a:lnSpc>
                <a:spcPts val="3510"/>
              </a:lnSpc>
            </a:pPr>
            <a:r>
              <a:rPr lang="en-US" sz="2700" spc="37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PERFORMED USING PYTHON-LANGUAGE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C9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161296" y="-155035"/>
            <a:ext cx="5653729" cy="1059707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-5400000">
            <a:off x="-1160409" y="3390900"/>
            <a:ext cx="7737052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 i="true" spc="225">
                <a:solidFill>
                  <a:srgbClr val="22222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Introduction</a:t>
            </a:r>
          </a:p>
          <a:p>
            <a:pPr algn="ctr">
              <a:lnSpc>
                <a:spcPts val="9000"/>
              </a:lnSpc>
            </a:pPr>
            <a:r>
              <a:rPr lang="en-US" b="true" sz="7500" i="true" spc="225">
                <a:solidFill>
                  <a:srgbClr val="22222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&amp;</a:t>
            </a:r>
          </a:p>
          <a:p>
            <a:pPr algn="ctr">
              <a:lnSpc>
                <a:spcPts val="9000"/>
              </a:lnSpc>
            </a:pPr>
            <a:r>
              <a:rPr lang="en-US" b="true" sz="7500" i="true" spc="225">
                <a:solidFill>
                  <a:srgbClr val="22222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Project Aims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31878" y="8858250"/>
            <a:ext cx="10527422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Dataset:</a:t>
            </a:r>
          </a:p>
          <a:p>
            <a:pPr algn="l" marL="323850" indent="-161925" lvl="1">
              <a:lnSpc>
                <a:spcPts val="2250"/>
              </a:lnSpc>
              <a:buFont typeface="Arial"/>
              <a:buChar char="•"/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27 antidepressants</a:t>
            </a:r>
          </a:p>
          <a:p>
            <a:pPr algn="l" marL="323850" indent="-161925" lvl="1">
              <a:lnSpc>
                <a:spcPts val="2250"/>
              </a:lnSpc>
              <a:buFont typeface="Arial"/>
              <a:buChar char="•"/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 NHS regions</a:t>
            </a:r>
          </a:p>
          <a:p>
            <a:pPr algn="l" marL="323850" indent="-161925" lvl="1">
              <a:lnSpc>
                <a:spcPts val="2250"/>
              </a:lnSpc>
              <a:buFont typeface="Arial"/>
              <a:buChar char="•"/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1,120 rows of prescribing data</a:t>
            </a:r>
          </a:p>
          <a:p>
            <a:pPr algn="l">
              <a:lnSpc>
                <a:spcPts val="225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172847" y="981075"/>
            <a:ext cx="8188001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0"/>
              </a:lnSpc>
            </a:pPr>
            <a:r>
              <a:rPr lang="en-US" b="true" sz="3700" i="true" spc="555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 DISCUSSION OVERVIEW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642727" y="1074743"/>
            <a:ext cx="616573" cy="437192"/>
            <a:chOff x="0" y="0"/>
            <a:chExt cx="822097" cy="582923"/>
          </a:xfrm>
        </p:grpSpPr>
        <p:sp>
          <p:nvSpPr>
            <p:cNvPr name="AutoShape 7" id="7"/>
            <p:cNvSpPr/>
            <p:nvPr/>
          </p:nvSpPr>
          <p:spPr>
            <a:xfrm rot="0">
              <a:off x="0" y="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  <p:sp>
          <p:nvSpPr>
            <p:cNvPr name="AutoShape 8" id="8"/>
            <p:cNvSpPr/>
            <p:nvPr/>
          </p:nvSpPr>
          <p:spPr>
            <a:xfrm rot="0">
              <a:off x="0" y="25400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  <p:sp>
          <p:nvSpPr>
            <p:cNvPr name="AutoShape 9" id="9"/>
            <p:cNvSpPr/>
            <p:nvPr/>
          </p:nvSpPr>
          <p:spPr>
            <a:xfrm rot="0">
              <a:off x="0" y="50800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575991" y="2418949"/>
            <a:ext cx="10527422" cy="628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project analysed NH</a:t>
            </a: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 antidepressant prescribing data from December 2024 across England. The analysis explored prescribing trends, regional variation, and differences between prescribing volume and cost.</a:t>
            </a:r>
          </a:p>
          <a:p>
            <a:pPr algn="l">
              <a:lnSpc>
                <a:spcPts val="450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Project Aims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Identify the most prescribed antidepressants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Compare prescribing volume and cost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Explore regional prescribing patterns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Generate insights using NHS data</a:t>
            </a:r>
          </a:p>
          <a:p>
            <a:pPr algn="l">
              <a:lnSpc>
                <a:spcPts val="45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40943"/>
            <a:ext cx="5476888" cy="10568886"/>
          </a:xfrm>
          <a:custGeom>
            <a:avLst/>
            <a:gdLst/>
            <a:ahLst/>
            <a:cxnLst/>
            <a:rect r="r" b="b" t="t" l="l"/>
            <a:pathLst>
              <a:path h="10568886" w="5476888">
                <a:moveTo>
                  <a:pt x="0" y="0"/>
                </a:moveTo>
                <a:lnTo>
                  <a:pt x="5476888" y="0"/>
                </a:lnTo>
                <a:lnTo>
                  <a:pt x="5476888" y="10568886"/>
                </a:lnTo>
                <a:lnTo>
                  <a:pt x="0" y="10568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4360" t="0" r="-527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196105"/>
            <a:ext cx="8272551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b="true" sz="7500" i="true" spc="225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Data Cleaning &amp; Preparation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07225" y="2808738"/>
            <a:ext cx="8604588" cy="628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</a:t>
            </a: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 dataset was checked and cleaned before analysis to improve accuracy and consistency.</a:t>
            </a:r>
          </a:p>
          <a:p>
            <a:pPr algn="l">
              <a:lnSpc>
                <a:spcPts val="4500"/>
              </a:lnSpc>
            </a:pPr>
            <a:r>
              <a:rPr lang="en-US" b="true" sz="3000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Cleaning Steps: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Removed duplicate records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Checked for missing values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Converted prescribing columns into numeric format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Verified drug and regional categories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Confirmed data types were correct</a:t>
            </a:r>
          </a:p>
          <a:p>
            <a:pPr algn="l">
              <a:lnSpc>
                <a:spcPts val="4500"/>
              </a:lnSpc>
            </a:pPr>
          </a:p>
        </p:txBody>
      </p:sp>
      <p:sp>
        <p:nvSpPr>
          <p:cNvPr name="AutoShape 5" id="5"/>
          <p:cNvSpPr/>
          <p:nvPr/>
        </p:nvSpPr>
        <p:spPr>
          <a:xfrm rot="0">
            <a:off x="0" y="-112759"/>
            <a:ext cx="1349361" cy="1051251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6" id="6"/>
          <p:cNvSpPr/>
          <p:nvPr/>
        </p:nvSpPr>
        <p:spPr>
          <a:xfrm rot="0">
            <a:off x="0" y="-57496"/>
            <a:ext cx="1349361" cy="2113636"/>
          </a:xfrm>
          <a:prstGeom prst="rect">
            <a:avLst/>
          </a:prstGeom>
          <a:solidFill>
            <a:srgbClr val="1C98ED"/>
          </a:solidFill>
        </p:spPr>
      </p:sp>
      <p:sp>
        <p:nvSpPr>
          <p:cNvPr name="Freeform 7" id="7"/>
          <p:cNvSpPr/>
          <p:nvPr/>
        </p:nvSpPr>
        <p:spPr>
          <a:xfrm flipH="false" flipV="false" rot="5018741">
            <a:off x="5146357" y="2193844"/>
            <a:ext cx="3807986" cy="1903993"/>
          </a:xfrm>
          <a:custGeom>
            <a:avLst/>
            <a:gdLst/>
            <a:ahLst/>
            <a:cxnLst/>
            <a:rect r="r" b="b" t="t" l="l"/>
            <a:pathLst>
              <a:path h="1903993" w="3807986">
                <a:moveTo>
                  <a:pt x="0" y="0"/>
                </a:moveTo>
                <a:lnTo>
                  <a:pt x="3807986" y="0"/>
                </a:lnTo>
                <a:lnTo>
                  <a:pt x="3807986" y="1903993"/>
                </a:lnTo>
                <a:lnTo>
                  <a:pt x="0" y="1903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731878" y="8858250"/>
            <a:ext cx="10527422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Dataset Information:</a:t>
            </a:r>
          </a:p>
          <a:p>
            <a:pPr algn="l" marL="323850" indent="-161925" lvl="1">
              <a:lnSpc>
                <a:spcPts val="2250"/>
              </a:lnSpc>
              <a:buFont typeface="Arial"/>
              <a:buChar char="•"/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1,120 rows</a:t>
            </a:r>
          </a:p>
          <a:p>
            <a:pPr algn="l" marL="323850" indent="-161925" lvl="1">
              <a:lnSpc>
                <a:spcPts val="2250"/>
              </a:lnSpc>
              <a:buFont typeface="Arial"/>
              <a:buChar char="•"/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 columns</a:t>
            </a:r>
          </a:p>
          <a:p>
            <a:pPr algn="l" marL="323850" indent="-161925" lvl="1">
              <a:lnSpc>
                <a:spcPts val="2250"/>
              </a:lnSpc>
              <a:buFont typeface="Arial"/>
              <a:buChar char="•"/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missing values detected</a:t>
            </a:r>
          </a:p>
          <a:p>
            <a:pPr algn="l">
              <a:lnSpc>
                <a:spcPts val="225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67500" y="762000"/>
            <a:ext cx="10858500" cy="8763000"/>
          </a:xfrm>
          <a:custGeom>
            <a:avLst/>
            <a:gdLst/>
            <a:ahLst/>
            <a:cxnLst/>
            <a:rect r="r" b="b" t="t" l="l"/>
            <a:pathLst>
              <a:path h="8763000" w="10858500">
                <a:moveTo>
                  <a:pt x="0" y="0"/>
                </a:moveTo>
                <a:lnTo>
                  <a:pt x="10858500" y="0"/>
                </a:lnTo>
                <a:lnTo>
                  <a:pt x="10858500" y="8763000"/>
                </a:lnTo>
                <a:lnTo>
                  <a:pt x="0" y="8763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57" t="0" r="-1487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2500" y="531238"/>
            <a:ext cx="4514653" cy="7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5"/>
              </a:lnSpc>
              <a:spcBef>
                <a:spcPct val="0"/>
              </a:spcBef>
            </a:pPr>
            <a:r>
              <a:rPr lang="en-US" b="true" sz="2795" i="true" spc="83" strike="noStrike" u="none">
                <a:solidFill>
                  <a:srgbClr val="38BDF8"/>
                </a:solidFill>
                <a:latin typeface="Telegraf Bold"/>
                <a:ea typeface="Telegraf Bold"/>
                <a:cs typeface="Telegraf Bold"/>
                <a:sym typeface="Telegraf Bold"/>
              </a:rPr>
              <a:t>Top 10 Most Prescribed Antidepressants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1638300"/>
            <a:ext cx="4964209" cy="1028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In December 2024, sertraline hydrochloride was the most prescribed antidepressant in England, with key findings: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Sertraline had the highest prescribing volume.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Amitriptyline ranked second.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A notable drop in prescriptions followed the top five drugs.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Most prescriptions were concentrated among a few antidepressants.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10229850"/>
            <a:ext cx="18288000" cy="57150"/>
            <a:chOff x="0" y="0"/>
            <a:chExt cx="4815840" cy="150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5840" cy="15049"/>
            </a:xfrm>
            <a:custGeom>
              <a:avLst/>
              <a:gdLst/>
              <a:ahLst/>
              <a:cxnLst/>
              <a:rect r="r" b="b" t="t" l="l"/>
              <a:pathLst>
                <a:path h="15049" w="4815840">
                  <a:moveTo>
                    <a:pt x="0" y="0"/>
                  </a:moveTo>
                  <a:lnTo>
                    <a:pt x="4815840" y="0"/>
                  </a:lnTo>
                  <a:lnTo>
                    <a:pt x="4815840" y="15049"/>
                  </a:lnTo>
                  <a:lnTo>
                    <a:pt x="0" y="15049"/>
                  </a:lnTo>
                  <a:close/>
                </a:path>
              </a:pathLst>
            </a:custGeom>
            <a:solidFill>
              <a:srgbClr val="38BDF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5840" cy="5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38216" y="-169127"/>
            <a:ext cx="8971724" cy="10625254"/>
          </a:xfrm>
          <a:custGeom>
            <a:avLst/>
            <a:gdLst/>
            <a:ahLst/>
            <a:cxnLst/>
            <a:rect r="r" b="b" t="t" l="l"/>
            <a:pathLst>
              <a:path h="10625254" w="8971724">
                <a:moveTo>
                  <a:pt x="0" y="0"/>
                </a:moveTo>
                <a:lnTo>
                  <a:pt x="8971725" y="0"/>
                </a:lnTo>
                <a:lnTo>
                  <a:pt x="8971725" y="10625254"/>
                </a:lnTo>
                <a:lnTo>
                  <a:pt x="0" y="10625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75392" t="-49981" r="-6143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677799" y="5753100"/>
            <a:ext cx="6581501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000"/>
              </a:lnSpc>
            </a:pPr>
            <a:r>
              <a:rPr lang="en-US" b="true" sz="7500" i="true" spc="225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National Prescribing Volume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0" y="-169127"/>
            <a:ext cx="9438216" cy="10625254"/>
          </a:xfrm>
          <a:prstGeom prst="rect">
            <a:avLst/>
          </a:prstGeom>
          <a:solidFill>
            <a:srgbClr val="1C98ED"/>
          </a:solidFill>
        </p:spPr>
      </p:sp>
      <p:grpSp>
        <p:nvGrpSpPr>
          <p:cNvPr name="Group 5" id="5"/>
          <p:cNvGrpSpPr/>
          <p:nvPr/>
        </p:nvGrpSpPr>
        <p:grpSpPr>
          <a:xfrm rot="0">
            <a:off x="16642727" y="1074743"/>
            <a:ext cx="616573" cy="437192"/>
            <a:chOff x="0" y="0"/>
            <a:chExt cx="822097" cy="582923"/>
          </a:xfrm>
        </p:grpSpPr>
        <p:sp>
          <p:nvSpPr>
            <p:cNvPr name="AutoShape 6" id="6"/>
            <p:cNvSpPr/>
            <p:nvPr/>
          </p:nvSpPr>
          <p:spPr>
            <a:xfrm rot="0">
              <a:off x="0" y="0"/>
              <a:ext cx="822097" cy="74923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AutoShape 7" id="7"/>
            <p:cNvSpPr/>
            <p:nvPr/>
          </p:nvSpPr>
          <p:spPr>
            <a:xfrm rot="0">
              <a:off x="0" y="254000"/>
              <a:ext cx="822097" cy="74923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AutoShape 8" id="8"/>
            <p:cNvSpPr/>
            <p:nvPr/>
          </p:nvSpPr>
          <p:spPr>
            <a:xfrm rot="0">
              <a:off x="0" y="508000"/>
              <a:ext cx="822097" cy="74923"/>
            </a:xfrm>
            <a:prstGeom prst="rect">
              <a:avLst/>
            </a:prstGeom>
            <a:solidFill>
              <a:srgbClr val="FFFF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1174" y="1257300"/>
            <a:ext cx="7555869" cy="800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 total of 7.82 million antidepressant items were prescribed </a:t>
            </a: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nationally during December 2024.</a:t>
            </a: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  <a:r>
              <a:rPr lang="en-US" b="true" sz="3000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Insights: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An</a:t>
            </a: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tidepressant prescribing levels were very high across England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highlights growing demand for mental health support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Prescribing data can help the NHS understand </a:t>
            </a: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</a:t>
            </a: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ealthcare demand and plan resources more effectively</a:t>
            </a:r>
          </a:p>
          <a:p>
            <a:pPr algn="l">
              <a:lnSpc>
                <a:spcPts val="45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3A5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1990725"/>
            <a:ext cx="6667500" cy="671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  <a:r>
              <a:rPr lang="en-US" sz="278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Some antidepressants are costly despite low usage.</a:t>
            </a: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  <a:r>
              <a:rPr lang="en-US" b="true" sz="2787" strike="noStrike" u="none">
                <a:solidFill>
                  <a:srgbClr val="38BD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Findings:</a:t>
            </a: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  <a:r>
              <a:rPr lang="en-US" sz="278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Venlafaxine had the highest cost.</a:t>
            </a: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  <a:r>
              <a:rPr lang="en-US" sz="278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Sertraline showed high usage and cost.</a:t>
            </a: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  <a:r>
              <a:rPr lang="en-US" sz="278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Costs and usage don't always align.</a:t>
            </a: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  <a:r>
              <a:rPr lang="en-US" b="true" sz="2787" strike="noStrike" u="none">
                <a:solidFill>
                  <a:srgbClr val="38BD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Insights:</a:t>
            </a: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  <a:r>
              <a:rPr lang="en-US" sz="278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More prescriptions don't mean higher costs; some drugs are pricier per prescription.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572500" y="2095500"/>
            <a:ext cx="8953500" cy="6858000"/>
          </a:xfrm>
          <a:custGeom>
            <a:avLst/>
            <a:gdLst/>
            <a:ahLst/>
            <a:cxnLst/>
            <a:rect r="r" b="b" t="t" l="l"/>
            <a:pathLst>
              <a:path h="6858000" w="8953500">
                <a:moveTo>
                  <a:pt x="0" y="0"/>
                </a:moveTo>
                <a:lnTo>
                  <a:pt x="8953500" y="0"/>
                </a:lnTo>
                <a:lnTo>
                  <a:pt x="89535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04" t="0" r="-5104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52500" y="714375"/>
            <a:ext cx="762000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29"/>
              </a:lnSpc>
              <a:spcBef>
                <a:spcPct val="0"/>
              </a:spcBef>
            </a:pPr>
            <a:r>
              <a:rPr lang="en-US" b="true" sz="4729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Prescribing Cost Analysis</a:t>
            </a:r>
          </a:p>
        </p:txBody>
      </p:sp>
      <p:sp>
        <p:nvSpPr>
          <p:cNvPr name="AutoShape 5" id="5"/>
          <p:cNvSpPr/>
          <p:nvPr/>
        </p:nvSpPr>
        <p:spPr>
          <a:xfrm>
            <a:off x="952500" y="1666875"/>
            <a:ext cx="2857500" cy="0"/>
          </a:xfrm>
          <a:prstGeom prst="line">
            <a:avLst/>
          </a:prstGeom>
          <a:ln cap="rnd" w="38100">
            <a:solidFill>
              <a:srgbClr val="38BDF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3A5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58000" y="5334000"/>
            <a:ext cx="10668000" cy="4491789"/>
          </a:xfrm>
          <a:custGeom>
            <a:avLst/>
            <a:gdLst/>
            <a:ahLst/>
            <a:cxnLst/>
            <a:rect r="r" b="b" t="t" l="l"/>
            <a:pathLst>
              <a:path h="4491789" w="10668000">
                <a:moveTo>
                  <a:pt x="0" y="0"/>
                </a:moveTo>
                <a:lnTo>
                  <a:pt x="10668000" y="0"/>
                </a:lnTo>
                <a:lnTo>
                  <a:pt x="10668000" y="4491789"/>
                </a:lnTo>
                <a:lnTo>
                  <a:pt x="0" y="44917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8" t="-4211" r="-5376" b="-42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58000" y="381000"/>
            <a:ext cx="10668000" cy="4491789"/>
          </a:xfrm>
          <a:custGeom>
            <a:avLst/>
            <a:gdLst/>
            <a:ahLst/>
            <a:cxnLst/>
            <a:rect r="r" b="b" t="t" l="l"/>
            <a:pathLst>
              <a:path h="4491789" w="10668000">
                <a:moveTo>
                  <a:pt x="0" y="0"/>
                </a:moveTo>
                <a:lnTo>
                  <a:pt x="10668000" y="0"/>
                </a:lnTo>
                <a:lnTo>
                  <a:pt x="10668000" y="4491789"/>
                </a:lnTo>
                <a:lnTo>
                  <a:pt x="0" y="44917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77" t="-1354" r="-877" b="-135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43000" y="638175"/>
            <a:ext cx="85725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0"/>
              </a:lnSpc>
              <a:spcBef>
                <a:spcPct val="0"/>
              </a:spcBef>
            </a:pPr>
            <a:r>
              <a:rPr lang="en-US" b="true" sz="3160" i="true" spc="94" strike="noStrike" u="none">
                <a:solidFill>
                  <a:srgbClr val="38BDF8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Comparing Prescribing Volume and Cost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1638300"/>
            <a:ext cx="4953000" cy="802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The analysis showed variations in antidepressant prescribing volume and cost: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b="true" sz="2247" strike="noStrike" u="none">
                <a:solidFill>
                  <a:srgbClr val="38BD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Findings: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High prescription frequency linked to lower costs.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Some less-prescribed drugs had higher costs.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Sertraline had both high volume and cost.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b="true" sz="2247" strike="noStrike" u="none">
                <a:solidFill>
                  <a:srgbClr val="38BD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Implications: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These findings may affect NHS spending and resource planning due to the significant differences in medication pricing and prescribing patterns.</a:t>
            </a:r>
          </a:p>
        </p:txBody>
      </p:sp>
      <p:sp>
        <p:nvSpPr>
          <p:cNvPr name="AutoShape 6" id="6"/>
          <p:cNvSpPr/>
          <p:nvPr/>
        </p:nvSpPr>
        <p:spPr>
          <a:xfrm>
            <a:off x="1143000" y="1428750"/>
            <a:ext cx="2857500" cy="0"/>
          </a:xfrm>
          <a:prstGeom prst="line">
            <a:avLst/>
          </a:prstGeom>
          <a:ln cap="rnd" w="38100">
            <a:solidFill>
              <a:srgbClr val="38BDF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12759"/>
            <a:ext cx="1349361" cy="1051251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0" y="-57496"/>
            <a:ext cx="1349361" cy="2113636"/>
          </a:xfrm>
          <a:prstGeom prst="rect">
            <a:avLst/>
          </a:prstGeom>
          <a:solidFill>
            <a:srgbClr val="1C98ED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181949" y="341641"/>
            <a:ext cx="7421871" cy="4425291"/>
          </a:xfrm>
          <a:custGeom>
            <a:avLst/>
            <a:gdLst/>
            <a:ahLst/>
            <a:cxnLst/>
            <a:rect r="r" b="b" t="t" l="l"/>
            <a:pathLst>
              <a:path h="4425291" w="7421871">
                <a:moveTo>
                  <a:pt x="0" y="0"/>
                </a:moveTo>
                <a:lnTo>
                  <a:pt x="7421871" y="0"/>
                </a:lnTo>
                <a:lnTo>
                  <a:pt x="7421871" y="4425290"/>
                </a:lnTo>
                <a:lnTo>
                  <a:pt x="0" y="4425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1949" y="5143500"/>
            <a:ext cx="7421871" cy="4425291"/>
          </a:xfrm>
          <a:custGeom>
            <a:avLst/>
            <a:gdLst/>
            <a:ahLst/>
            <a:cxnLst/>
            <a:rect r="r" b="b" t="t" l="l"/>
            <a:pathLst>
              <a:path h="4425291" w="7421871">
                <a:moveTo>
                  <a:pt x="0" y="0"/>
                </a:moveTo>
                <a:lnTo>
                  <a:pt x="7421871" y="0"/>
                </a:lnTo>
                <a:lnTo>
                  <a:pt x="7421871" y="4425291"/>
                </a:lnTo>
                <a:lnTo>
                  <a:pt x="0" y="44252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52156" y="265441"/>
            <a:ext cx="9407144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b="true" sz="7500" i="true" spc="225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Regional Prescribing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52156" y="3863691"/>
            <a:ext cx="9005866" cy="571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Antidepressant prescribing in England's NHS varies by region:</a:t>
            </a:r>
          </a:p>
          <a:p>
            <a:pPr algn="l" marL="0" indent="0" lvl="0">
              <a:lnSpc>
                <a:spcPts val="4500"/>
              </a:lnSpc>
            </a:pP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Highest volume: North East and Yorkshire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Highest cost: Midlands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Lower totals: London</a:t>
            </a: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Regional differences may indicate variations in population size, prescribing practices, and mental health needs.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55035"/>
            <a:ext cx="3757543" cy="10597070"/>
          </a:xfrm>
          <a:prstGeom prst="rect">
            <a:avLst/>
          </a:prstGeom>
          <a:solidFill>
            <a:srgbClr val="1C98ED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958041" y="4692877"/>
            <a:ext cx="11301259" cy="5594123"/>
          </a:xfrm>
          <a:custGeom>
            <a:avLst/>
            <a:gdLst/>
            <a:ahLst/>
            <a:cxnLst/>
            <a:rect r="r" b="b" t="t" l="l"/>
            <a:pathLst>
              <a:path h="5594123" w="11301259">
                <a:moveTo>
                  <a:pt x="0" y="0"/>
                </a:moveTo>
                <a:lnTo>
                  <a:pt x="11301259" y="0"/>
                </a:lnTo>
                <a:lnTo>
                  <a:pt x="11301259" y="5594123"/>
                </a:lnTo>
                <a:lnTo>
                  <a:pt x="0" y="5594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-5400000">
            <a:off x="-3083111" y="4165473"/>
            <a:ext cx="9438941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 i="true" spc="225">
                <a:solidFill>
                  <a:srgbClr val="22222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Sertraline Regional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64810" y="408027"/>
            <a:ext cx="13006704" cy="383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6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Sertraline prescribing costs in the North East varied among Integrated Care Boards (ICBs), highlighting:</a:t>
            </a:r>
          </a:p>
          <a:p>
            <a:pPr algn="l" marL="0" indent="0" lvl="0">
              <a:lnSpc>
                <a:spcPts val="2440"/>
              </a:lnSpc>
            </a:pPr>
          </a:p>
          <a:p>
            <a:pPr algn="l" marL="647700" indent="-323850" lvl="1">
              <a:lnSpc>
                <a:spcPts val="366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Significant cost differences</a:t>
            </a:r>
          </a:p>
          <a:p>
            <a:pPr algn="l" marL="647700" indent="-323850" lvl="1">
              <a:lnSpc>
                <a:spcPts val="366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Uneven prescribing patterns</a:t>
            </a:r>
          </a:p>
          <a:p>
            <a:pPr algn="l" marL="647700" indent="-323850" lvl="1">
              <a:lnSpc>
                <a:spcPts val="366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Regional variations in NHS activity</a:t>
            </a:r>
          </a:p>
          <a:p>
            <a:pPr algn="l">
              <a:lnSpc>
                <a:spcPts val="2440"/>
              </a:lnSpc>
            </a:pPr>
          </a:p>
          <a:p>
            <a:pPr algn="l">
              <a:lnSpc>
                <a:spcPts val="366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Key Insight: NHS prescribing data aids healthcare planning by pinpointing areas with high medication demand and spending.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197311" y="6341327"/>
            <a:ext cx="18682622" cy="4142896"/>
          </a:xfrm>
          <a:prstGeom prst="rect">
            <a:avLst/>
          </a:prstGeom>
          <a:solidFill>
            <a:srgbClr val="222222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828675"/>
            <a:ext cx="14134860" cy="126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7000" spc="210" b="true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Recomendations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642727" y="1028700"/>
            <a:ext cx="616573" cy="437192"/>
            <a:chOff x="0" y="0"/>
            <a:chExt cx="822097" cy="582923"/>
          </a:xfrm>
        </p:grpSpPr>
        <p:sp>
          <p:nvSpPr>
            <p:cNvPr name="AutoShape 5" id="5"/>
            <p:cNvSpPr/>
            <p:nvPr/>
          </p:nvSpPr>
          <p:spPr>
            <a:xfrm rot="0">
              <a:off x="0" y="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  <p:sp>
          <p:nvSpPr>
            <p:cNvPr name="AutoShape 6" id="6"/>
            <p:cNvSpPr/>
            <p:nvPr/>
          </p:nvSpPr>
          <p:spPr>
            <a:xfrm rot="0">
              <a:off x="0" y="25400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  <p:sp>
          <p:nvSpPr>
            <p:cNvPr name="AutoShape 7" id="7"/>
            <p:cNvSpPr/>
            <p:nvPr/>
          </p:nvSpPr>
          <p:spPr>
            <a:xfrm rot="0">
              <a:off x="0" y="50800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</p:grpSp>
      <p:sp>
        <p:nvSpPr>
          <p:cNvPr name="AutoShape 8" id="8"/>
          <p:cNvSpPr/>
          <p:nvPr/>
        </p:nvSpPr>
        <p:spPr>
          <a:xfrm rot="0">
            <a:off x="1028700" y="3424354"/>
            <a:ext cx="3178367" cy="4841909"/>
          </a:xfrm>
          <a:prstGeom prst="rect">
            <a:avLst/>
          </a:prstGeom>
          <a:solidFill>
            <a:srgbClr val="1C98ED"/>
          </a:solidFill>
        </p:spPr>
      </p:sp>
      <p:sp>
        <p:nvSpPr>
          <p:cNvPr name="AutoShape 9" id="9"/>
          <p:cNvSpPr/>
          <p:nvPr/>
        </p:nvSpPr>
        <p:spPr>
          <a:xfrm rot="0">
            <a:off x="11320992" y="3424354"/>
            <a:ext cx="3178367" cy="4841909"/>
          </a:xfrm>
          <a:prstGeom prst="rect">
            <a:avLst/>
          </a:prstGeom>
          <a:solidFill>
            <a:srgbClr val="1C98ED"/>
          </a:solidFill>
        </p:spPr>
      </p:sp>
      <p:sp>
        <p:nvSpPr>
          <p:cNvPr name="AutoShape 10" id="10"/>
          <p:cNvSpPr/>
          <p:nvPr/>
        </p:nvSpPr>
        <p:spPr>
          <a:xfrm rot="0">
            <a:off x="7890228" y="3424354"/>
            <a:ext cx="3178367" cy="4841909"/>
          </a:xfrm>
          <a:prstGeom prst="rect">
            <a:avLst/>
          </a:prstGeom>
          <a:solidFill>
            <a:srgbClr val="1C98ED"/>
          </a:solidFill>
        </p:spPr>
      </p:sp>
      <p:sp>
        <p:nvSpPr>
          <p:cNvPr name="AutoShape 11" id="11"/>
          <p:cNvSpPr/>
          <p:nvPr/>
        </p:nvSpPr>
        <p:spPr>
          <a:xfrm rot="0">
            <a:off x="4459464" y="3424354"/>
            <a:ext cx="3178367" cy="4841909"/>
          </a:xfrm>
          <a:prstGeom prst="rect">
            <a:avLst/>
          </a:prstGeom>
          <a:solidFill>
            <a:srgbClr val="1C98ED"/>
          </a:solidFill>
        </p:spPr>
      </p:sp>
      <p:grpSp>
        <p:nvGrpSpPr>
          <p:cNvPr name="Group 12" id="12"/>
          <p:cNvGrpSpPr/>
          <p:nvPr/>
        </p:nvGrpSpPr>
        <p:grpSpPr>
          <a:xfrm rot="0">
            <a:off x="1313595" y="3986065"/>
            <a:ext cx="2608576" cy="3289495"/>
            <a:chOff x="0" y="0"/>
            <a:chExt cx="3478102" cy="438599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85725"/>
              <a:ext cx="3478102" cy="1318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0"/>
                </a:lnSpc>
              </a:pP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MONITOR TRENDS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770567"/>
              <a:ext cx="3478102" cy="2615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2"/>
                </a:lnSpc>
              </a:pP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Co</a:t>
              </a: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ntinue monitoring antidepressant prescribing trends across England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744359" y="3986065"/>
            <a:ext cx="2608576" cy="3289495"/>
            <a:chOff x="0" y="0"/>
            <a:chExt cx="3478102" cy="438599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85725"/>
              <a:ext cx="3478102" cy="1318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0"/>
                </a:lnSpc>
              </a:pP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</a:t>
              </a: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OMPARE REGIONS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770567"/>
              <a:ext cx="3478102" cy="2615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2"/>
                </a:lnSpc>
              </a:pP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Inv</a:t>
              </a: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estigate regional differences in prescribing volume and cost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75123" y="3986065"/>
            <a:ext cx="2608576" cy="2894229"/>
            <a:chOff x="0" y="0"/>
            <a:chExt cx="3478102" cy="3858972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85725"/>
              <a:ext cx="3478102" cy="1318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0"/>
                </a:lnSpc>
              </a:pP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MPROVE SUPPORT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770567"/>
              <a:ext cx="3478102" cy="2088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2"/>
                </a:lnSpc>
              </a:pP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Suppo</a:t>
              </a: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rt early mental health intervention services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05887" y="3986065"/>
            <a:ext cx="2608576" cy="3289495"/>
            <a:chOff x="0" y="0"/>
            <a:chExt cx="3478102" cy="438599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85725"/>
              <a:ext cx="3478102" cy="1318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0"/>
                </a:lnSpc>
              </a:pP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PLA</a:t>
              </a: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 RESOURCES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770567"/>
              <a:ext cx="3478102" cy="2615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2"/>
                </a:lnSpc>
              </a:pP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Use p</a:t>
              </a: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rescribing data to improve healthcare planning and resource allocation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rot="0">
            <a:off x="14747009" y="3424354"/>
            <a:ext cx="3178367" cy="4841909"/>
          </a:xfrm>
          <a:prstGeom prst="rect">
            <a:avLst/>
          </a:prstGeom>
          <a:solidFill>
            <a:srgbClr val="1C98ED"/>
          </a:solidFill>
        </p:spPr>
      </p:sp>
      <p:grpSp>
        <p:nvGrpSpPr>
          <p:cNvPr name="Group 25" id="25"/>
          <p:cNvGrpSpPr/>
          <p:nvPr/>
        </p:nvGrpSpPr>
        <p:grpSpPr>
          <a:xfrm rot="0">
            <a:off x="15031904" y="3986065"/>
            <a:ext cx="2608576" cy="3289495"/>
            <a:chOff x="0" y="0"/>
            <a:chExt cx="3478102" cy="4385993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85725"/>
              <a:ext cx="3478102" cy="1318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0"/>
                </a:lnSpc>
              </a:pP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REDUC</a:t>
              </a: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 COSTS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1770567"/>
              <a:ext cx="3478102" cy="2615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2"/>
                </a:lnSpc>
              </a:pP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Explore oppo</a:t>
              </a: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rtunities for cost-effective prescribing where appropriate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C9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8548" y="3454301"/>
            <a:ext cx="16010752" cy="587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3000" spc="3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ANALYSIS OF NHS PRESCRIBING DATA REVEALED TRENDS IN ANTIDEPRESSANT USE IN ENGLAND. KEY FINDINGS INCLUDE:</a:t>
            </a:r>
          </a:p>
          <a:p>
            <a:pPr algn="l" marL="0" indent="0" lvl="0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3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SERTRALINE IS THE MOST PRESCRIBED ANTIDEPRESSANT.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3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PRESCRIBING VOLUME AND COSTS VARY AMONG DIFFERENT DRUGS.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3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THERE ARE REGIONAL DIFFERENCES IN PRESCRIBING ACROSS ENGLAND.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3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MIDLANDS HAS THE HIGHEST PRESCRIBING COSTS.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spc="3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FINAL INSIGHT: HEALTHCARE DATA CAN GUIDE THE NHS IN IDENTIFYING TRENDS, PLANNING, AND ENHANCING PATIENT CARE.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211403" y="0"/>
            <a:ext cx="18710807" cy="3100082"/>
            <a:chOff x="0" y="0"/>
            <a:chExt cx="24947742" cy="4133443"/>
          </a:xfrm>
        </p:grpSpPr>
        <p:sp>
          <p:nvSpPr>
            <p:cNvPr name="AutoShape 4" id="4"/>
            <p:cNvSpPr/>
            <p:nvPr/>
          </p:nvSpPr>
          <p:spPr>
            <a:xfrm rot="0">
              <a:off x="0" y="0"/>
              <a:ext cx="24947742" cy="4133443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653471" y="1295400"/>
              <a:ext cx="18959213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b="true" sz="7500" i="true" spc="225">
                  <a:solidFill>
                    <a:srgbClr val="1C98ED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Conclusion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642727" y="1028700"/>
            <a:ext cx="616573" cy="437192"/>
            <a:chOff x="0" y="0"/>
            <a:chExt cx="822097" cy="582923"/>
          </a:xfrm>
        </p:grpSpPr>
        <p:sp>
          <p:nvSpPr>
            <p:cNvPr name="AutoShape 7" id="7"/>
            <p:cNvSpPr/>
            <p:nvPr/>
          </p:nvSpPr>
          <p:spPr>
            <a:xfrm rot="0">
              <a:off x="0" y="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  <p:sp>
          <p:nvSpPr>
            <p:cNvPr name="AutoShape 8" id="8"/>
            <p:cNvSpPr/>
            <p:nvPr/>
          </p:nvSpPr>
          <p:spPr>
            <a:xfrm rot="0">
              <a:off x="0" y="25400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  <p:sp>
          <p:nvSpPr>
            <p:cNvPr name="AutoShape 9" id="9"/>
            <p:cNvSpPr/>
            <p:nvPr/>
          </p:nvSpPr>
          <p:spPr>
            <a:xfrm rot="0">
              <a:off x="0" y="50800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DAHKBQEY1Qo</dc:identifier>
  <dcterms:modified xsi:type="dcterms:W3CDTF">2011-08-01T06:04:30Z</dcterms:modified>
  <cp:revision>1</cp:revision>
  <dc:title>NHS_ChallengeA_Python</dc:title>
</cp:coreProperties>
</file>